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5" r:id="rId3"/>
    <p:sldId id="259" r:id="rId4"/>
    <p:sldId id="262" r:id="rId5"/>
    <p:sldId id="266" r:id="rId6"/>
    <p:sldId id="267" r:id="rId7"/>
    <p:sldId id="263" r:id="rId8"/>
    <p:sldId id="264" r:id="rId9"/>
  </p:sldIdLst>
  <p:sldSz cx="6858000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3DFF3"/>
    <a:srgbClr val="A2D8F0"/>
    <a:srgbClr val="D4ED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357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995312"/>
            <a:ext cx="5829300" cy="424462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B1C55F-B20C-4CFD-8E60-86901ABAE181}" type="datetimeFigureOut">
              <a:rPr lang="fr-BE" smtClean="0"/>
              <a:t>17-06-25</a:t>
            </a:fld>
            <a:endParaRPr lang="fr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993A6-8775-468A-9F6E-640F852F05D1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0063366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B1C55F-B20C-4CFD-8E60-86901ABAE181}" type="datetimeFigureOut">
              <a:rPr lang="fr-BE" smtClean="0"/>
              <a:t>17-06-25</a:t>
            </a:fld>
            <a:endParaRPr lang="fr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993A6-8775-468A-9F6E-640F852F05D1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7691160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507153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8159048"/>
            <a:ext cx="5915025" cy="266699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B1C55F-B20C-4CFD-8E60-86901ABAE181}" type="datetimeFigureOut">
              <a:rPr lang="fr-BE" smtClean="0"/>
              <a:t>17-06-25</a:t>
            </a:fld>
            <a:endParaRPr lang="fr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993A6-8775-468A-9F6E-640F852F05D1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3578648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B1C55F-B20C-4CFD-8E60-86901ABAE181}" type="datetimeFigureOut">
              <a:rPr lang="fr-BE" smtClean="0"/>
              <a:t>17-06-25</a:t>
            </a:fld>
            <a:endParaRPr lang="fr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993A6-8775-468A-9F6E-640F852F05D1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0354798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49114"/>
            <a:ext cx="5915025" cy="23565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B1C55F-B20C-4CFD-8E60-86901ABAE181}" type="datetimeFigureOut">
              <a:rPr lang="fr-BE" smtClean="0"/>
              <a:t>17-06-25</a:t>
            </a:fld>
            <a:endParaRPr lang="fr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993A6-8775-468A-9F6E-640F852F05D1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7725561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B1C55F-B20C-4CFD-8E60-86901ABAE181}" type="datetimeFigureOut">
              <a:rPr lang="fr-BE" smtClean="0"/>
              <a:t>17-06-25</a:t>
            </a:fld>
            <a:endParaRPr lang="fr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993A6-8775-468A-9F6E-640F852F05D1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1225452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B1C55F-B20C-4CFD-8E60-86901ABAE181}" type="datetimeFigureOut">
              <a:rPr lang="fr-BE" smtClean="0"/>
              <a:t>17-06-25</a:t>
            </a:fld>
            <a:endParaRPr lang="fr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993A6-8775-468A-9F6E-640F852F05D1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7322262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755425"/>
            <a:ext cx="3471863" cy="866422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B1C55F-B20C-4CFD-8E60-86901ABAE181}" type="datetimeFigureOut">
              <a:rPr lang="fr-BE" smtClean="0"/>
              <a:t>17-06-25</a:t>
            </a:fld>
            <a:endParaRPr lang="fr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993A6-8775-468A-9F6E-640F852F05D1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7885980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755425"/>
            <a:ext cx="3471863" cy="866422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B1C55F-B20C-4CFD-8E60-86901ABAE181}" type="datetimeFigureOut">
              <a:rPr lang="fr-BE" smtClean="0"/>
              <a:t>17-06-25</a:t>
            </a:fld>
            <a:endParaRPr lang="fr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993A6-8775-468A-9F6E-640F852F05D1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2879275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B1C55F-B20C-4CFD-8E60-86901ABAE181}" type="datetimeFigureOut">
              <a:rPr lang="fr-BE" smtClean="0"/>
              <a:t>17-06-25</a:t>
            </a:fld>
            <a:endParaRPr lang="fr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993A6-8775-468A-9F6E-640F852F05D1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9651863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649111"/>
            <a:ext cx="1478756" cy="103321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649111"/>
            <a:ext cx="4350544" cy="103321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B1C55F-B20C-4CFD-8E60-86901ABAE181}" type="datetimeFigureOut">
              <a:rPr lang="fr-BE" smtClean="0"/>
              <a:t>17-06-25</a:t>
            </a:fld>
            <a:endParaRPr lang="fr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993A6-8775-468A-9F6E-640F852F05D1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5091745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649114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B1C55F-B20C-4CFD-8E60-86901ABAE181}" type="datetimeFigureOut">
              <a:rPr lang="fr-BE" smtClean="0"/>
              <a:t>17-06-25</a:t>
            </a:fld>
            <a:endParaRPr lang="fr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11300181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6993A6-8775-468A-9F6E-640F852F05D1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0389447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37AE66A-AA17-1080-8196-49B5081DE5AD}"/>
              </a:ext>
            </a:extLst>
          </p:cNvPr>
          <p:cNvSpPr/>
          <p:nvPr/>
        </p:nvSpPr>
        <p:spPr>
          <a:xfrm>
            <a:off x="0" y="312821"/>
            <a:ext cx="6858000" cy="2960731"/>
          </a:xfrm>
          <a:prstGeom prst="rect">
            <a:avLst/>
          </a:prstGeom>
          <a:solidFill>
            <a:srgbClr val="D4ED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F8C9330-376C-B669-0CD2-7ABDE4871630}"/>
              </a:ext>
            </a:extLst>
          </p:cNvPr>
          <p:cNvSpPr/>
          <p:nvPr/>
        </p:nvSpPr>
        <p:spPr>
          <a:xfrm>
            <a:off x="182887" y="3439263"/>
            <a:ext cx="3012698" cy="8439916"/>
          </a:xfrm>
          <a:prstGeom prst="rect">
            <a:avLst/>
          </a:prstGeom>
          <a:solidFill>
            <a:srgbClr val="B3DF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2593822-B020-AAEA-0D96-F4DDC28B67C1}"/>
              </a:ext>
            </a:extLst>
          </p:cNvPr>
          <p:cNvCxnSpPr>
            <a:cxnSpLocks/>
          </p:cNvCxnSpPr>
          <p:nvPr/>
        </p:nvCxnSpPr>
        <p:spPr>
          <a:xfrm>
            <a:off x="3429000" y="3657600"/>
            <a:ext cx="0" cy="7721600"/>
          </a:xfrm>
          <a:prstGeom prst="straightConnector1">
            <a:avLst/>
          </a:prstGeom>
          <a:ln w="38100">
            <a:headEnd type="diamond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75AA6B77-E946-0CAD-5EE9-CCFA0587DFDC}"/>
              </a:ext>
            </a:extLst>
          </p:cNvPr>
          <p:cNvSpPr/>
          <p:nvPr/>
        </p:nvSpPr>
        <p:spPr>
          <a:xfrm>
            <a:off x="256032" y="0"/>
            <a:ext cx="2779776" cy="3128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1A0AFC-EC4D-7CC8-9B53-78BDEE5A45C6}"/>
              </a:ext>
            </a:extLst>
          </p:cNvPr>
          <p:cNvSpPr txBox="1"/>
          <p:nvPr/>
        </p:nvSpPr>
        <p:spPr>
          <a:xfrm>
            <a:off x="3035808" y="593710"/>
            <a:ext cx="382219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noProof="0" dirty="0">
                <a:solidFill>
                  <a:schemeClr val="accent1"/>
                </a:solidFill>
              </a:rPr>
              <a:t>Automated </a:t>
            </a:r>
            <a:br>
              <a:rPr lang="en-US" sz="2800" b="1" noProof="0" dirty="0">
                <a:solidFill>
                  <a:schemeClr val="accent1"/>
                </a:solidFill>
              </a:rPr>
            </a:br>
            <a:r>
              <a:rPr lang="en-US" sz="2800" b="1" noProof="0" dirty="0">
                <a:solidFill>
                  <a:schemeClr val="accent1"/>
                </a:solidFill>
              </a:rPr>
              <a:t>Testing Tool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FDB131D-B273-2472-D7EB-B3B493C72A52}"/>
              </a:ext>
            </a:extLst>
          </p:cNvPr>
          <p:cNvSpPr txBox="1"/>
          <p:nvPr/>
        </p:nvSpPr>
        <p:spPr>
          <a:xfrm>
            <a:off x="3282215" y="1634750"/>
            <a:ext cx="340734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noProof="0" dirty="0">
                <a:solidFill>
                  <a:schemeClr val="accent1"/>
                </a:solidFill>
              </a:rPr>
              <a:t>A tool designed specifically for the business tests.</a:t>
            </a:r>
            <a:br>
              <a:rPr lang="en-US" i="1" noProof="0" dirty="0">
                <a:solidFill>
                  <a:schemeClr val="accent1"/>
                </a:solidFill>
              </a:rPr>
            </a:br>
            <a:r>
              <a:rPr lang="en-US" i="1" noProof="0" dirty="0">
                <a:solidFill>
                  <a:schemeClr val="accent1"/>
                </a:solidFill>
              </a:rPr>
              <a:t>No technical skill required!</a:t>
            </a:r>
          </a:p>
          <a:p>
            <a:r>
              <a:rPr lang="en-US" i="1" dirty="0">
                <a:solidFill>
                  <a:schemeClr val="accent1"/>
                </a:solidFill>
              </a:rPr>
              <a:t>Developed to facilitate the stakeholder's acceptance</a:t>
            </a:r>
            <a:endParaRPr lang="en-US" i="1" noProof="0" dirty="0">
              <a:solidFill>
                <a:schemeClr val="accent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B12D713-3F3E-3F19-4925-C437900CF8D7}"/>
              </a:ext>
            </a:extLst>
          </p:cNvPr>
          <p:cNvSpPr txBox="1"/>
          <p:nvPr/>
        </p:nvSpPr>
        <p:spPr>
          <a:xfrm>
            <a:off x="451355" y="3657600"/>
            <a:ext cx="2204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b="1" dirty="0">
                <a:solidFill>
                  <a:schemeClr val="accent1"/>
                </a:solidFill>
              </a:rPr>
              <a:t>CONTACTS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4A049DA-0874-753F-D23B-DCAF4039A318}"/>
              </a:ext>
            </a:extLst>
          </p:cNvPr>
          <p:cNvSpPr txBox="1"/>
          <p:nvPr/>
        </p:nvSpPr>
        <p:spPr>
          <a:xfrm>
            <a:off x="269518" y="4225561"/>
            <a:ext cx="3012697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dirty="0">
                <a:solidFill>
                  <a:schemeClr val="accent1"/>
                </a:solidFill>
              </a:rPr>
              <a:t>Philippe GOFFIN</a:t>
            </a:r>
          </a:p>
          <a:p>
            <a:r>
              <a:rPr lang="fr-BE" sz="1400" dirty="0">
                <a:solidFill>
                  <a:schemeClr val="accent1"/>
                </a:solidFill>
              </a:rPr>
              <a:t>philippe.goffin@soprasteria.com</a:t>
            </a:r>
          </a:p>
          <a:p>
            <a:r>
              <a:rPr lang="fr-BE" sz="1400" dirty="0">
                <a:solidFill>
                  <a:schemeClr val="accent1"/>
                </a:solidFill>
              </a:rPr>
              <a:t>0495/820.961</a:t>
            </a:r>
            <a:br>
              <a:rPr lang="fr-BE" sz="1400" dirty="0">
                <a:solidFill>
                  <a:schemeClr val="accent1"/>
                </a:solidFill>
              </a:rPr>
            </a:br>
            <a:r>
              <a:rPr lang="fr-BE" sz="1600" dirty="0">
                <a:solidFill>
                  <a:schemeClr val="accent1"/>
                </a:solidFill>
              </a:rPr>
              <a:t>Consultant at Sopra Steria</a:t>
            </a:r>
          </a:p>
          <a:p>
            <a:endParaRPr lang="fr-BE" dirty="0">
              <a:solidFill>
                <a:schemeClr val="accent1"/>
              </a:solidFill>
            </a:endParaRPr>
          </a:p>
          <a:p>
            <a:endParaRPr lang="fr-BE" dirty="0">
              <a:solidFill>
                <a:schemeClr val="accent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E9C42F3-45DB-133F-135B-AFA41335FCAD}"/>
              </a:ext>
            </a:extLst>
          </p:cNvPr>
          <p:cNvSpPr txBox="1"/>
          <p:nvPr/>
        </p:nvSpPr>
        <p:spPr>
          <a:xfrm>
            <a:off x="3662416" y="3609221"/>
            <a:ext cx="319558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noProof="0" dirty="0">
                <a:solidFill>
                  <a:schemeClr val="accent1"/>
                </a:solidFill>
              </a:rPr>
              <a:t>New version</a:t>
            </a:r>
            <a:r>
              <a:rPr lang="en-US" noProof="0" dirty="0">
                <a:solidFill>
                  <a:schemeClr val="accent1"/>
                </a:solidFill>
              </a:rPr>
              <a:t>:</a:t>
            </a:r>
            <a:endParaRPr lang="en-US" sz="1200" noProof="0" dirty="0">
              <a:solidFill>
                <a:schemeClr val="accent1"/>
              </a:solidFill>
            </a:endParaRPr>
          </a:p>
          <a:p>
            <a:r>
              <a:rPr lang="en-US" noProof="0" dirty="0">
                <a:solidFill>
                  <a:schemeClr val="accent1"/>
                </a:solidFill>
              </a:rPr>
              <a:t>05/2025</a:t>
            </a:r>
          </a:p>
          <a:p>
            <a:endParaRPr lang="en-US" noProof="0" dirty="0">
              <a:solidFill>
                <a:schemeClr val="accent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FD3A8C1-D005-BE08-49CE-FD3AD5EB2F47}"/>
              </a:ext>
            </a:extLst>
          </p:cNvPr>
          <p:cNvSpPr txBox="1"/>
          <p:nvPr/>
        </p:nvSpPr>
        <p:spPr>
          <a:xfrm>
            <a:off x="3656320" y="8808666"/>
            <a:ext cx="319558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noProof="0" dirty="0">
                <a:solidFill>
                  <a:schemeClr val="accent1"/>
                </a:solidFill>
              </a:rPr>
              <a:t>Rules Engine</a:t>
            </a:r>
            <a:r>
              <a:rPr lang="en-US" noProof="0" dirty="0">
                <a:solidFill>
                  <a:schemeClr val="accent1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/>
                </a:solidFill>
              </a:rPr>
              <a:t>Make decision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>
                <a:solidFill>
                  <a:schemeClr val="accent1"/>
                </a:solidFill>
              </a:rPr>
              <a:t>sub scenario</a:t>
            </a:r>
          </a:p>
          <a:p>
            <a:endParaRPr lang="en-US" noProof="0" dirty="0">
              <a:solidFill>
                <a:schemeClr val="accent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EE67A7B-ABF9-E39D-F4BB-CF669CF150A8}"/>
              </a:ext>
            </a:extLst>
          </p:cNvPr>
          <p:cNvSpPr txBox="1"/>
          <p:nvPr/>
        </p:nvSpPr>
        <p:spPr>
          <a:xfrm>
            <a:off x="3656320" y="10207722"/>
            <a:ext cx="319558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noProof="0" dirty="0">
                <a:solidFill>
                  <a:schemeClr val="accent1"/>
                </a:solidFill>
              </a:rPr>
              <a:t>Artificial Intelligence</a:t>
            </a:r>
            <a:r>
              <a:rPr lang="en-US" noProof="0" dirty="0">
                <a:solidFill>
                  <a:schemeClr val="accent1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/>
                </a:solidFill>
              </a:rPr>
              <a:t>Detect fields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>
                <a:solidFill>
                  <a:schemeClr val="accent1"/>
                </a:solidFill>
              </a:rPr>
              <a:t>Training tool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/>
                </a:solidFill>
              </a:rPr>
              <a:t>Natural language (proto)</a:t>
            </a:r>
            <a:endParaRPr lang="en-US" noProof="0" dirty="0">
              <a:solidFill>
                <a:schemeClr val="accent1"/>
              </a:solidFill>
            </a:endParaRPr>
          </a:p>
          <a:p>
            <a:endParaRPr lang="en-US" noProof="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8BC168D-281C-A2F9-E357-285BEF9477DB}"/>
              </a:ext>
            </a:extLst>
          </p:cNvPr>
          <p:cNvSpPr txBox="1"/>
          <p:nvPr/>
        </p:nvSpPr>
        <p:spPr>
          <a:xfrm>
            <a:off x="451352" y="5714479"/>
            <a:ext cx="2204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b="1" dirty="0">
                <a:solidFill>
                  <a:schemeClr val="accent1"/>
                </a:solidFill>
              </a:rPr>
              <a:t>FEATURES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BC154E1-41AA-E68A-D4AC-F1A0E92563B2}"/>
              </a:ext>
            </a:extLst>
          </p:cNvPr>
          <p:cNvSpPr txBox="1"/>
          <p:nvPr/>
        </p:nvSpPr>
        <p:spPr>
          <a:xfrm>
            <a:off x="182887" y="6228756"/>
            <a:ext cx="302488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noProof="0" dirty="0">
                <a:solidFill>
                  <a:schemeClr val="accent1"/>
                </a:solidFill>
              </a:rPr>
              <a:t>No technical skill required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1"/>
                </a:solidFill>
              </a:rPr>
              <a:t>Very powerful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1"/>
                </a:solidFill>
              </a:rPr>
              <a:t>Data driven method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1"/>
                </a:solidFill>
              </a:rPr>
              <a:t>Roles: Tester, Designer, Admin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1"/>
                </a:solidFill>
              </a:rPr>
              <a:t>Ready for ECAS login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1"/>
                </a:solidFill>
              </a:rPr>
              <a:t>Export in Excel/.</a:t>
            </a:r>
            <a:r>
              <a:rPr lang="en-US" sz="1600" dirty="0" err="1">
                <a:solidFill>
                  <a:schemeClr val="accent1"/>
                </a:solidFill>
              </a:rPr>
              <a:t>json</a:t>
            </a:r>
            <a:endParaRPr lang="en-US" sz="1600" dirty="0">
              <a:solidFill>
                <a:schemeClr val="accent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1"/>
                </a:solidFill>
              </a:rPr>
              <a:t>Batch/</a:t>
            </a:r>
            <a:r>
              <a:rPr lang="en-US" sz="1600" dirty="0" err="1">
                <a:solidFill>
                  <a:schemeClr val="accent1"/>
                </a:solidFill>
              </a:rPr>
              <a:t>cron</a:t>
            </a:r>
            <a:r>
              <a:rPr lang="en-US" sz="1600" dirty="0">
                <a:solidFill>
                  <a:schemeClr val="accent1"/>
                </a:solidFill>
              </a:rPr>
              <a:t> mode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noProof="0" dirty="0">
              <a:solidFill>
                <a:schemeClr val="accent1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ACFCE79-4979-6BD6-4461-F132798533D4}"/>
              </a:ext>
            </a:extLst>
          </p:cNvPr>
          <p:cNvSpPr txBox="1"/>
          <p:nvPr/>
        </p:nvSpPr>
        <p:spPr>
          <a:xfrm>
            <a:off x="451352" y="8803656"/>
            <a:ext cx="2204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b="1" dirty="0">
                <a:solidFill>
                  <a:schemeClr val="accent1"/>
                </a:solidFill>
              </a:rPr>
              <a:t>TECHNICAL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CABE1ED-BC79-2834-8AB5-7FEFF158267A}"/>
              </a:ext>
            </a:extLst>
          </p:cNvPr>
          <p:cNvSpPr txBox="1"/>
          <p:nvPr/>
        </p:nvSpPr>
        <p:spPr>
          <a:xfrm>
            <a:off x="257329" y="9259619"/>
            <a:ext cx="302488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noProof="0" dirty="0">
                <a:solidFill>
                  <a:schemeClr val="accent1"/>
                </a:solidFill>
              </a:rPr>
              <a:t>Playwright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1"/>
                </a:solidFill>
              </a:rPr>
              <a:t>JavaScript/Node.js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1"/>
                </a:solidFill>
              </a:rPr>
              <a:t>Vue 3 (user interface)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1"/>
                </a:solidFill>
              </a:rPr>
              <a:t>REST API Server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1"/>
                </a:solidFill>
              </a:rPr>
              <a:t>Database: MySQL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noProof="0" dirty="0">
              <a:solidFill>
                <a:schemeClr val="accent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D031125-16D9-E544-DF0A-DD32DC6F4C5C}"/>
              </a:ext>
            </a:extLst>
          </p:cNvPr>
          <p:cNvSpPr txBox="1"/>
          <p:nvPr/>
        </p:nvSpPr>
        <p:spPr>
          <a:xfrm>
            <a:off x="3656320" y="4367432"/>
            <a:ext cx="3195582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noProof="0" dirty="0">
                <a:solidFill>
                  <a:schemeClr val="accent1"/>
                </a:solidFill>
              </a:rPr>
              <a:t>History of the Robot</a:t>
            </a:r>
            <a:r>
              <a:rPr lang="en-US" noProof="0" dirty="0">
                <a:solidFill>
                  <a:schemeClr val="accent1"/>
                </a:solidFill>
              </a:rPr>
              <a:t>:</a:t>
            </a:r>
            <a:endParaRPr lang="en-US" sz="1200" noProof="0" dirty="0">
              <a:solidFill>
                <a:schemeClr val="accent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noProof="0" dirty="0">
                <a:solidFill>
                  <a:schemeClr val="accent1"/>
                </a:solidFill>
              </a:rPr>
              <a:t>2019-2024, Robot is used at DG INTPA to test a very complex financial application.</a:t>
            </a:r>
          </a:p>
          <a:p>
            <a:endParaRPr lang="en-US" sz="1600" dirty="0">
              <a:solidFill>
                <a:schemeClr val="accent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noProof="0" dirty="0">
                <a:solidFill>
                  <a:schemeClr val="accent1"/>
                </a:solidFill>
              </a:rPr>
              <a:t>2024, a version based on</a:t>
            </a:r>
            <a:br>
              <a:rPr lang="en-US" sz="1600" noProof="0" dirty="0">
                <a:solidFill>
                  <a:schemeClr val="accent1"/>
                </a:solidFill>
              </a:rPr>
            </a:br>
            <a:r>
              <a:rPr lang="en-US" sz="1600" noProof="0" dirty="0">
                <a:solidFill>
                  <a:schemeClr val="accent1"/>
                </a:solidFill>
              </a:rPr>
              <a:t> a web interface is created.</a:t>
            </a:r>
            <a:br>
              <a:rPr lang="en-US" sz="1600" noProof="0" dirty="0">
                <a:solidFill>
                  <a:schemeClr val="accent1"/>
                </a:solidFill>
              </a:rPr>
            </a:br>
            <a:endParaRPr lang="en-US" sz="1600" noProof="0" dirty="0">
              <a:solidFill>
                <a:schemeClr val="accent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1"/>
                </a:solidFill>
              </a:rPr>
              <a:t>2025, a migration of the backend to Playwright</a:t>
            </a:r>
            <a:endParaRPr lang="en-US" sz="1600" noProof="0" dirty="0">
              <a:solidFill>
                <a:schemeClr val="accent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04261F-0A30-E9DF-4B61-62955C0252AE}"/>
              </a:ext>
            </a:extLst>
          </p:cNvPr>
          <p:cNvSpPr txBox="1"/>
          <p:nvPr/>
        </p:nvSpPr>
        <p:spPr>
          <a:xfrm>
            <a:off x="3662418" y="7132611"/>
            <a:ext cx="319558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noProof="0" dirty="0">
                <a:solidFill>
                  <a:schemeClr val="accent1"/>
                </a:solidFill>
              </a:rPr>
              <a:t>Performance</a:t>
            </a:r>
            <a:r>
              <a:rPr lang="en-US" noProof="0" dirty="0">
                <a:solidFill>
                  <a:schemeClr val="accent1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/>
                </a:solidFill>
              </a:rPr>
              <a:t>Quick tests execution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/>
                </a:solidFill>
              </a:rPr>
              <a:t>Multi browsers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>
                <a:solidFill>
                  <a:schemeClr val="accent1"/>
                </a:solidFill>
              </a:rPr>
              <a:t>Ready for mobile</a:t>
            </a:r>
          </a:p>
          <a:p>
            <a:endParaRPr lang="en-US" noProof="0" dirty="0">
              <a:solidFill>
                <a:schemeClr val="accent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CE7404A-48C5-124E-5DD2-D947AEDC0A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068" y="429792"/>
            <a:ext cx="2860751" cy="2585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87763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EBF311-5626-DDE1-711D-8DE170331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F11C8CD-A277-B07A-5114-8BEC9BC6C440}"/>
              </a:ext>
            </a:extLst>
          </p:cNvPr>
          <p:cNvSpPr/>
          <p:nvPr/>
        </p:nvSpPr>
        <p:spPr>
          <a:xfrm>
            <a:off x="0" y="312821"/>
            <a:ext cx="6858000" cy="2960731"/>
          </a:xfrm>
          <a:prstGeom prst="rect">
            <a:avLst/>
          </a:prstGeom>
          <a:solidFill>
            <a:srgbClr val="D4ED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25C5CD7-F846-311F-4E65-204EADBDC3F5}"/>
              </a:ext>
            </a:extLst>
          </p:cNvPr>
          <p:cNvSpPr/>
          <p:nvPr/>
        </p:nvSpPr>
        <p:spPr>
          <a:xfrm>
            <a:off x="256032" y="0"/>
            <a:ext cx="2779776" cy="3128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378816-62F6-144C-D4AD-FB3244C3DFB4}"/>
              </a:ext>
            </a:extLst>
          </p:cNvPr>
          <p:cNvSpPr txBox="1"/>
          <p:nvPr/>
        </p:nvSpPr>
        <p:spPr>
          <a:xfrm>
            <a:off x="3035808" y="593710"/>
            <a:ext cx="38221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noProof="0" dirty="0">
                <a:solidFill>
                  <a:schemeClr val="accent1"/>
                </a:solidFill>
              </a:rPr>
              <a:t>Automated Tests Tool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1A40E64-34F1-16AD-3511-D7F3B2DD0014}"/>
              </a:ext>
            </a:extLst>
          </p:cNvPr>
          <p:cNvSpPr txBox="1"/>
          <p:nvPr/>
        </p:nvSpPr>
        <p:spPr>
          <a:xfrm>
            <a:off x="3291839" y="1197567"/>
            <a:ext cx="340734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noProof="0" dirty="0">
                <a:solidFill>
                  <a:schemeClr val="accent1"/>
                </a:solidFill>
              </a:rPr>
              <a:t>What is the added-value of this new version powered by Playwright 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B346E3C-5471-DEBF-3863-92BB32C203FD}"/>
              </a:ext>
            </a:extLst>
          </p:cNvPr>
          <p:cNvSpPr txBox="1"/>
          <p:nvPr/>
        </p:nvSpPr>
        <p:spPr>
          <a:xfrm>
            <a:off x="256032" y="3755571"/>
            <a:ext cx="6275397" cy="75713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0" dirty="0">
                <a:solidFill>
                  <a:srgbClr val="0070C0"/>
                </a:solidFill>
                <a:effectLst/>
                <a:latin typeface="Google Sans Text"/>
              </a:rPr>
              <a:t>Playwright</a:t>
            </a:r>
            <a:r>
              <a:rPr lang="en-US" b="0" i="0" dirty="0">
                <a:solidFill>
                  <a:srgbClr val="1A1C1E"/>
                </a:solidFill>
                <a:effectLst/>
                <a:latin typeface="Google Sans Text"/>
              </a:rPr>
              <a:t> offers several advantages, making it a more modern and efficient choice for web automation and testing. </a:t>
            </a:r>
            <a:br>
              <a:rPr lang="en-US" b="0" i="0" dirty="0">
                <a:solidFill>
                  <a:srgbClr val="1A1C1E"/>
                </a:solidFill>
                <a:effectLst/>
                <a:latin typeface="Google Sans Text"/>
              </a:rPr>
            </a:br>
            <a:r>
              <a:rPr lang="en-US" b="0" i="0" dirty="0">
                <a:solidFill>
                  <a:srgbClr val="1A1C1E"/>
                </a:solidFill>
                <a:effectLst/>
                <a:latin typeface="Google Sans Text"/>
              </a:rPr>
              <a:t>It excels in speed, reliability, ease of use, and advanced features like auto-waiting, robust locators, and tracing. </a:t>
            </a:r>
          </a:p>
          <a:p>
            <a:endParaRPr lang="en-US" dirty="0">
              <a:solidFill>
                <a:srgbClr val="1A1C1E"/>
              </a:solidFill>
              <a:latin typeface="Google Sans Text"/>
            </a:endParaRPr>
          </a:p>
          <a:p>
            <a:r>
              <a:rPr lang="en-US" b="1" dirty="0">
                <a:solidFill>
                  <a:srgbClr val="1A1C1E"/>
                </a:solidFill>
                <a:latin typeface="Google Sans Text"/>
              </a:rPr>
              <a:t>Installation</a:t>
            </a:r>
            <a:r>
              <a:rPr lang="en-US" dirty="0">
                <a:solidFill>
                  <a:srgbClr val="1A1C1E"/>
                </a:solidFill>
                <a:latin typeface="Google Sans Text"/>
              </a:rPr>
              <a:t>:</a:t>
            </a:r>
          </a:p>
          <a:p>
            <a:r>
              <a:rPr lang="en-US" dirty="0">
                <a:solidFill>
                  <a:srgbClr val="1A1C1E"/>
                </a:solidFill>
                <a:latin typeface="Google Sans Text"/>
              </a:rPr>
              <a:t>Only node.js libraries, no external drivers (so less issues with the corporate security of the customer)</a:t>
            </a:r>
          </a:p>
          <a:p>
            <a:endParaRPr lang="en-US" dirty="0">
              <a:solidFill>
                <a:srgbClr val="1A1C1E"/>
              </a:solidFill>
              <a:latin typeface="Google Sans Text"/>
            </a:endParaRPr>
          </a:p>
          <a:p>
            <a:r>
              <a:rPr lang="en-US" b="1" dirty="0">
                <a:solidFill>
                  <a:srgbClr val="1A1C1E"/>
                </a:solidFill>
                <a:latin typeface="Google Sans Text"/>
              </a:rPr>
              <a:t>Speed</a:t>
            </a:r>
            <a:r>
              <a:rPr lang="en-US" dirty="0">
                <a:solidFill>
                  <a:srgbClr val="1A1C1E"/>
                </a:solidFill>
                <a:latin typeface="Google Sans Text"/>
              </a:rPr>
              <a:t>:</a:t>
            </a:r>
          </a:p>
          <a:p>
            <a:r>
              <a:rPr lang="en-US" dirty="0">
                <a:solidFill>
                  <a:srgbClr val="1A1C1E"/>
                </a:solidFill>
                <a:latin typeface="Google Sans Text"/>
              </a:rPr>
              <a:t>Compared to the previous version, we gain 87% of performance.</a:t>
            </a:r>
            <a:br>
              <a:rPr lang="en-US" dirty="0">
                <a:solidFill>
                  <a:srgbClr val="1A1C1E"/>
                </a:solidFill>
                <a:latin typeface="Google Sans Text"/>
              </a:rPr>
            </a:br>
            <a:r>
              <a:rPr lang="en-US" dirty="0">
                <a:solidFill>
                  <a:srgbClr val="1A1C1E"/>
                </a:solidFill>
                <a:latin typeface="Google Sans Text"/>
              </a:rPr>
              <a:t>This is very important, when you want to use the tool to generate data ready to be used for the business (or stakeholders)</a:t>
            </a:r>
          </a:p>
          <a:p>
            <a:endParaRPr lang="en-US" dirty="0">
              <a:solidFill>
                <a:srgbClr val="1A1C1E"/>
              </a:solidFill>
              <a:latin typeface="Google Sans Text"/>
            </a:endParaRPr>
          </a:p>
          <a:p>
            <a:r>
              <a:rPr lang="en-US" b="1" i="0" dirty="0">
                <a:solidFill>
                  <a:srgbClr val="1A1C1E"/>
                </a:solidFill>
                <a:effectLst/>
                <a:latin typeface="Google Sans Text"/>
              </a:rPr>
              <a:t>Cross-Browser &amp; Devices</a:t>
            </a:r>
            <a:r>
              <a:rPr lang="en-US" i="0" dirty="0">
                <a:solidFill>
                  <a:srgbClr val="1A1C1E"/>
                </a:solidFill>
                <a:effectLst/>
                <a:latin typeface="Google Sans Text"/>
              </a:rPr>
              <a:t>:</a:t>
            </a:r>
          </a:p>
          <a:p>
            <a:r>
              <a:rPr lang="en-US" dirty="0">
                <a:solidFill>
                  <a:srgbClr val="1A1C1E"/>
                </a:solidFill>
                <a:latin typeface="Google Sans Text"/>
              </a:rPr>
              <a:t>It’s very easy to change the browser for the execution (just a reference). It’s also possible to simulate a device (smartphone, tablet….). You can also run the tests in headless mode.</a:t>
            </a:r>
          </a:p>
          <a:p>
            <a:endParaRPr lang="en-US" dirty="0">
              <a:solidFill>
                <a:srgbClr val="1A1C1E"/>
              </a:solidFill>
              <a:latin typeface="Google Sans Text"/>
            </a:endParaRPr>
          </a:p>
          <a:p>
            <a:r>
              <a:rPr lang="en-US" b="1" i="0" dirty="0">
                <a:solidFill>
                  <a:srgbClr val="1A1C1E"/>
                </a:solidFill>
                <a:effectLst/>
                <a:latin typeface="Google Sans Text"/>
              </a:rPr>
              <a:t>Reliability</a:t>
            </a:r>
            <a:r>
              <a:rPr lang="en-US" i="0" dirty="0">
                <a:solidFill>
                  <a:srgbClr val="1A1C1E"/>
                </a:solidFill>
                <a:effectLst/>
                <a:latin typeface="Google Sans Text"/>
              </a:rPr>
              <a:t>:</a:t>
            </a:r>
          </a:p>
          <a:p>
            <a:r>
              <a:rPr lang="en-US" b="0" i="0" dirty="0">
                <a:solidFill>
                  <a:srgbClr val="1A1C1E"/>
                </a:solidFill>
                <a:effectLst/>
                <a:latin typeface="Google Sans Text"/>
              </a:rPr>
              <a:t>More reliable, especially with auto-waiting and robust locators.</a:t>
            </a:r>
            <a:endParaRPr lang="en-US" b="0" dirty="0">
              <a:solidFill>
                <a:srgbClr val="1A1C1E"/>
              </a:solidFill>
              <a:latin typeface="Google Sans Text"/>
            </a:endParaRPr>
          </a:p>
          <a:p>
            <a:endParaRPr lang="en-US" dirty="0">
              <a:solidFill>
                <a:srgbClr val="1A1C1E"/>
              </a:solidFill>
              <a:latin typeface="Google Sans Text"/>
            </a:endParaRPr>
          </a:p>
          <a:p>
            <a:r>
              <a:rPr lang="en-US" b="1" dirty="0">
                <a:solidFill>
                  <a:srgbClr val="1A1C1E"/>
                </a:solidFill>
                <a:latin typeface="Google Sans Text"/>
              </a:rPr>
              <a:t>Fully compliant with the previous behaviors</a:t>
            </a:r>
            <a:r>
              <a:rPr lang="en-US" dirty="0">
                <a:solidFill>
                  <a:srgbClr val="1A1C1E"/>
                </a:solidFill>
                <a:latin typeface="Google Sans Text"/>
              </a:rPr>
              <a:t>:</a:t>
            </a:r>
          </a:p>
          <a:p>
            <a:r>
              <a:rPr lang="en-US" dirty="0">
                <a:solidFill>
                  <a:srgbClr val="1A1C1E"/>
                </a:solidFill>
                <a:latin typeface="Google Sans Text"/>
              </a:rPr>
              <a:t>Only the back-end has been migrated, the powerful behaviors are still there: rules engine, dataset, dictionary, able to process very complex scenarios, frame and </a:t>
            </a:r>
            <a:r>
              <a:rPr lang="en-US" dirty="0" err="1">
                <a:solidFill>
                  <a:srgbClr val="1A1C1E"/>
                </a:solidFill>
                <a:latin typeface="Google Sans Text"/>
              </a:rPr>
              <a:t>iFrame</a:t>
            </a:r>
            <a:r>
              <a:rPr lang="en-US" dirty="0">
                <a:solidFill>
                  <a:srgbClr val="1A1C1E"/>
                </a:solidFill>
                <a:latin typeface="Google Sans Text"/>
              </a:rPr>
              <a:t> managed </a:t>
            </a:r>
            <a:r>
              <a:rPr lang="en-US">
                <a:solidFill>
                  <a:srgbClr val="1A1C1E"/>
                </a:solidFill>
                <a:latin typeface="Google Sans Text"/>
              </a:rPr>
              <a:t>by the tool….</a:t>
            </a:r>
            <a:endParaRPr lang="en-BE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3D45E4-ED4C-E1C9-A109-4ED7011877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068" y="429792"/>
            <a:ext cx="2860751" cy="2585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79120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D548B2-AAD0-0337-CB29-F7644C15D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AFD4B4A-A5EE-4356-DCF8-6CC3641850AA}"/>
              </a:ext>
            </a:extLst>
          </p:cNvPr>
          <p:cNvSpPr/>
          <p:nvPr/>
        </p:nvSpPr>
        <p:spPr>
          <a:xfrm>
            <a:off x="0" y="312821"/>
            <a:ext cx="6858000" cy="2960731"/>
          </a:xfrm>
          <a:prstGeom prst="rect">
            <a:avLst/>
          </a:prstGeom>
          <a:solidFill>
            <a:srgbClr val="D4ED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AB9BFF0-ECAA-9C41-A67F-2FB2E4A3A94D}"/>
              </a:ext>
            </a:extLst>
          </p:cNvPr>
          <p:cNvSpPr/>
          <p:nvPr/>
        </p:nvSpPr>
        <p:spPr>
          <a:xfrm>
            <a:off x="256032" y="0"/>
            <a:ext cx="2779776" cy="3128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A5EFDF-FE52-FD85-9FFA-4C73D6A82F7E}"/>
              </a:ext>
            </a:extLst>
          </p:cNvPr>
          <p:cNvSpPr txBox="1"/>
          <p:nvPr/>
        </p:nvSpPr>
        <p:spPr>
          <a:xfrm>
            <a:off x="3035808" y="593710"/>
            <a:ext cx="38221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noProof="0" dirty="0">
                <a:solidFill>
                  <a:schemeClr val="accent1"/>
                </a:solidFill>
              </a:rPr>
              <a:t>Automated Tests Tool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62BDCC4-629D-2AEF-84D9-76F6BC1E9EE3}"/>
              </a:ext>
            </a:extLst>
          </p:cNvPr>
          <p:cNvSpPr txBox="1"/>
          <p:nvPr/>
        </p:nvSpPr>
        <p:spPr>
          <a:xfrm>
            <a:off x="3291839" y="1197567"/>
            <a:ext cx="340734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noProof="0" dirty="0">
                <a:solidFill>
                  <a:schemeClr val="accent1"/>
                </a:solidFill>
              </a:rPr>
              <a:t>Because the tester can be a business analyst, we provide an easy-to-use interface, without technical jargon!</a:t>
            </a:r>
            <a:br>
              <a:rPr lang="en-US" i="1" noProof="0" dirty="0">
                <a:solidFill>
                  <a:schemeClr val="accent1"/>
                </a:solidFill>
              </a:rPr>
            </a:br>
            <a:r>
              <a:rPr lang="en-US" i="1" noProof="0" dirty="0">
                <a:solidFill>
                  <a:schemeClr val="accent1"/>
                </a:solidFill>
              </a:rPr>
              <a:t>Tester is responsible for the data and the dummy users.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F7943C-F2FD-8CC7-2BC5-D1CAF32FC44C}"/>
              </a:ext>
            </a:extLst>
          </p:cNvPr>
          <p:cNvSpPr txBox="1"/>
          <p:nvPr/>
        </p:nvSpPr>
        <p:spPr>
          <a:xfrm>
            <a:off x="108031" y="3697034"/>
            <a:ext cx="2204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b="1" dirty="0">
                <a:solidFill>
                  <a:schemeClr val="accent1"/>
                </a:solidFill>
              </a:rPr>
              <a:t>TESTER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7D48057-B0DD-AC03-E403-7398D5F85216}"/>
              </a:ext>
            </a:extLst>
          </p:cNvPr>
          <p:cNvSpPr txBox="1"/>
          <p:nvPr/>
        </p:nvSpPr>
        <p:spPr>
          <a:xfrm>
            <a:off x="108031" y="4060702"/>
            <a:ext cx="22041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600" b="1" i="1">
                <a:solidFill>
                  <a:schemeClr val="accent1"/>
                </a:solidFill>
              </a:defRPr>
            </a:lvl1pPr>
          </a:lstStyle>
          <a:p>
            <a:r>
              <a:rPr lang="en-US" noProof="0"/>
              <a:t>User interface: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5E07CF3-D3B4-0A99-8A5E-CD2649CF9AC1}"/>
              </a:ext>
            </a:extLst>
          </p:cNvPr>
          <p:cNvSpPr txBox="1"/>
          <p:nvPr/>
        </p:nvSpPr>
        <p:spPr>
          <a:xfrm>
            <a:off x="108031" y="7924314"/>
            <a:ext cx="31838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i="1" noProof="0">
                <a:solidFill>
                  <a:schemeClr val="accent1"/>
                </a:solidFill>
              </a:rPr>
              <a:t>Dashboard for the execution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09B2A82-B787-EAA2-1FDE-05CB920B46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30" y="8540872"/>
            <a:ext cx="6619341" cy="2793106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47AE3EC-F516-9931-32EC-710AC3B6F3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068" y="429792"/>
            <a:ext cx="2860751" cy="258532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14D1D6C-6D62-765C-BC83-49306967BE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970" y="4447572"/>
            <a:ext cx="6619341" cy="3300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83884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551F5-1CF8-1CB8-3EA5-BB521EF9F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22D5C7F-E8EE-7660-E417-B2D4608D7021}"/>
              </a:ext>
            </a:extLst>
          </p:cNvPr>
          <p:cNvSpPr/>
          <p:nvPr/>
        </p:nvSpPr>
        <p:spPr>
          <a:xfrm>
            <a:off x="0" y="312821"/>
            <a:ext cx="6858000" cy="2960731"/>
          </a:xfrm>
          <a:prstGeom prst="rect">
            <a:avLst/>
          </a:prstGeom>
          <a:solidFill>
            <a:srgbClr val="D4ED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8F0FBD2-0FBC-AB73-4F81-E1BE803A4848}"/>
              </a:ext>
            </a:extLst>
          </p:cNvPr>
          <p:cNvSpPr/>
          <p:nvPr/>
        </p:nvSpPr>
        <p:spPr>
          <a:xfrm>
            <a:off x="256032" y="0"/>
            <a:ext cx="2779776" cy="3128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24E94C8-5FF2-6A0E-F3A5-1C882D71550B}"/>
              </a:ext>
            </a:extLst>
          </p:cNvPr>
          <p:cNvSpPr txBox="1"/>
          <p:nvPr/>
        </p:nvSpPr>
        <p:spPr>
          <a:xfrm>
            <a:off x="3035808" y="593710"/>
            <a:ext cx="38221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noProof="0" dirty="0">
                <a:solidFill>
                  <a:schemeClr val="accent1"/>
                </a:solidFill>
              </a:rPr>
              <a:t>Automated Tests Tool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ED5B73D-8BFD-9073-F780-C272219AA329}"/>
              </a:ext>
            </a:extLst>
          </p:cNvPr>
          <p:cNvSpPr txBox="1"/>
          <p:nvPr/>
        </p:nvSpPr>
        <p:spPr>
          <a:xfrm>
            <a:off x="3291839" y="1197567"/>
            <a:ext cx="356616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noProof="0" dirty="0">
                <a:solidFill>
                  <a:schemeClr val="accent1"/>
                </a:solidFill>
              </a:rPr>
              <a:t>Designer is responsible of the creation of the scenarios, the dictionary, the rules and the references.</a:t>
            </a:r>
            <a:br>
              <a:rPr lang="en-US" i="1" noProof="0" dirty="0">
                <a:solidFill>
                  <a:schemeClr val="accent1"/>
                </a:solidFill>
              </a:rPr>
            </a:br>
            <a:r>
              <a:rPr lang="en-US" i="1" noProof="0" dirty="0">
                <a:solidFill>
                  <a:schemeClr val="accent1"/>
                </a:solidFill>
              </a:rPr>
              <a:t>Interface is designed to be efficient: copy/paste, import/export, natural language…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A9C50E-6C5E-7C20-0BE4-7A9984737A1F}"/>
              </a:ext>
            </a:extLst>
          </p:cNvPr>
          <p:cNvSpPr txBox="1"/>
          <p:nvPr/>
        </p:nvSpPr>
        <p:spPr>
          <a:xfrm>
            <a:off x="108031" y="3697034"/>
            <a:ext cx="2204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b="1" dirty="0">
                <a:solidFill>
                  <a:schemeClr val="accent1"/>
                </a:solidFill>
              </a:rPr>
              <a:t>DESIGNER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0DA554-D818-D3A2-BFDD-F1704FCE37AD}"/>
              </a:ext>
            </a:extLst>
          </p:cNvPr>
          <p:cNvSpPr txBox="1"/>
          <p:nvPr/>
        </p:nvSpPr>
        <p:spPr>
          <a:xfrm>
            <a:off x="108031" y="4060702"/>
            <a:ext cx="22041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600" b="1" i="1">
                <a:solidFill>
                  <a:schemeClr val="accent1"/>
                </a:solidFill>
              </a:defRPr>
            </a:lvl1pPr>
          </a:lstStyle>
          <a:p>
            <a:r>
              <a:rPr lang="en-US" noProof="0"/>
              <a:t>User interface: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68C7036-DF21-A4FF-7966-45F77E131BD2}"/>
              </a:ext>
            </a:extLst>
          </p:cNvPr>
          <p:cNvSpPr txBox="1"/>
          <p:nvPr/>
        </p:nvSpPr>
        <p:spPr>
          <a:xfrm>
            <a:off x="108031" y="7924314"/>
            <a:ext cx="31838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i="1" noProof="0" dirty="0">
                <a:solidFill>
                  <a:schemeClr val="accent1"/>
                </a:solidFill>
              </a:rPr>
              <a:t>Designing a scenario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A6855D0-A683-E7C8-61C4-B94FAA6DFBB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2415"/>
          <a:stretch/>
        </p:blipFill>
        <p:spPr>
          <a:xfrm>
            <a:off x="108031" y="8413074"/>
            <a:ext cx="6643007" cy="293188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591100F-C531-31D4-A79F-FD24C3A5CF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068" y="429792"/>
            <a:ext cx="2860751" cy="258532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97ED545-D2BE-E483-ACCA-F9F577F169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31" y="4446189"/>
            <a:ext cx="6643008" cy="3300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92257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EA006-7851-E6E5-C969-C39C97CED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FED101D-82E2-E261-7137-735DA03C9E52}"/>
              </a:ext>
            </a:extLst>
          </p:cNvPr>
          <p:cNvSpPr/>
          <p:nvPr/>
        </p:nvSpPr>
        <p:spPr>
          <a:xfrm>
            <a:off x="0" y="312821"/>
            <a:ext cx="6858000" cy="2960731"/>
          </a:xfrm>
          <a:prstGeom prst="rect">
            <a:avLst/>
          </a:prstGeom>
          <a:solidFill>
            <a:srgbClr val="D4ED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D9D700D-EA44-F4B3-F158-6E3142D8662F}"/>
              </a:ext>
            </a:extLst>
          </p:cNvPr>
          <p:cNvSpPr/>
          <p:nvPr/>
        </p:nvSpPr>
        <p:spPr>
          <a:xfrm>
            <a:off x="256032" y="0"/>
            <a:ext cx="2779776" cy="3128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7D3618-988D-1922-93E4-3396B25BB9F8}"/>
              </a:ext>
            </a:extLst>
          </p:cNvPr>
          <p:cNvSpPr txBox="1"/>
          <p:nvPr/>
        </p:nvSpPr>
        <p:spPr>
          <a:xfrm>
            <a:off x="3035808" y="593710"/>
            <a:ext cx="38221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noProof="0" dirty="0">
                <a:solidFill>
                  <a:schemeClr val="accent1"/>
                </a:solidFill>
              </a:rPr>
              <a:t>Automated Tests Tool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91CC1A2-132D-AF67-C00E-E451EA462839}"/>
              </a:ext>
            </a:extLst>
          </p:cNvPr>
          <p:cNvSpPr txBox="1"/>
          <p:nvPr/>
        </p:nvSpPr>
        <p:spPr>
          <a:xfrm>
            <a:off x="3291839" y="1197567"/>
            <a:ext cx="356616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noProof="0" dirty="0">
                <a:solidFill>
                  <a:schemeClr val="accent1"/>
                </a:solidFill>
              </a:rPr>
              <a:t>No technical skill is required to create a scenario, just select a function in the set and fill the  parameters.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924C83-2B42-F73E-6E4E-1A2FEBF5E001}"/>
              </a:ext>
            </a:extLst>
          </p:cNvPr>
          <p:cNvSpPr txBox="1"/>
          <p:nvPr/>
        </p:nvSpPr>
        <p:spPr>
          <a:xfrm>
            <a:off x="108031" y="3697034"/>
            <a:ext cx="2204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b="1" dirty="0">
                <a:solidFill>
                  <a:schemeClr val="accent1"/>
                </a:solidFill>
              </a:rPr>
              <a:t>DESIGNER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F2C13D3-EFAF-17B9-DEBB-F3189ADA5535}"/>
              </a:ext>
            </a:extLst>
          </p:cNvPr>
          <p:cNvSpPr txBox="1"/>
          <p:nvPr/>
        </p:nvSpPr>
        <p:spPr>
          <a:xfrm>
            <a:off x="108031" y="4060702"/>
            <a:ext cx="22041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600" b="1" i="1">
                <a:solidFill>
                  <a:schemeClr val="accent1"/>
                </a:solidFill>
              </a:defRPr>
            </a:lvl1pPr>
          </a:lstStyle>
          <a:p>
            <a:r>
              <a:rPr lang="en-US" noProof="0" dirty="0"/>
              <a:t>Select a function: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9C7F51E-0C03-B500-0973-49593600B863}"/>
              </a:ext>
            </a:extLst>
          </p:cNvPr>
          <p:cNvSpPr txBox="1"/>
          <p:nvPr/>
        </p:nvSpPr>
        <p:spPr>
          <a:xfrm>
            <a:off x="108031" y="7924314"/>
            <a:ext cx="31838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i="1" noProof="0" dirty="0">
                <a:solidFill>
                  <a:schemeClr val="accent1"/>
                </a:solidFill>
              </a:rPr>
              <a:t>Fill the parameters: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9E7A30-4FFF-C2CD-7BB3-D7B5B54222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068" y="429792"/>
            <a:ext cx="2860751" cy="258532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7021679-75A3-79DF-4A69-16D15167E0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07" y="4394189"/>
            <a:ext cx="6643007" cy="34998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6CB92CE-CDE1-12DF-B2BE-B28EABAC65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068" y="8419834"/>
            <a:ext cx="6594746" cy="3342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8708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5AD77-D11E-498F-9B96-7025CC560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8CF0651-7D29-FEFD-8708-0A06B9EC32C9}"/>
              </a:ext>
            </a:extLst>
          </p:cNvPr>
          <p:cNvSpPr/>
          <p:nvPr/>
        </p:nvSpPr>
        <p:spPr>
          <a:xfrm>
            <a:off x="0" y="312821"/>
            <a:ext cx="6858000" cy="2960731"/>
          </a:xfrm>
          <a:prstGeom prst="rect">
            <a:avLst/>
          </a:prstGeom>
          <a:solidFill>
            <a:srgbClr val="D4ED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4C7A5EF-60BA-57CB-AAF3-BF0F5D3D21F9}"/>
              </a:ext>
            </a:extLst>
          </p:cNvPr>
          <p:cNvSpPr/>
          <p:nvPr/>
        </p:nvSpPr>
        <p:spPr>
          <a:xfrm>
            <a:off x="256032" y="0"/>
            <a:ext cx="2779776" cy="3128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7CE4C6F-2A6D-4E3B-8335-B71B4E886015}"/>
              </a:ext>
            </a:extLst>
          </p:cNvPr>
          <p:cNvSpPr txBox="1"/>
          <p:nvPr/>
        </p:nvSpPr>
        <p:spPr>
          <a:xfrm>
            <a:off x="3035808" y="593710"/>
            <a:ext cx="38221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noProof="0" dirty="0">
                <a:solidFill>
                  <a:schemeClr val="accent1"/>
                </a:solidFill>
              </a:rPr>
              <a:t>Automated Tests Tool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A52AAC9-EAA1-EA64-8B4E-4314B50ED10B}"/>
              </a:ext>
            </a:extLst>
          </p:cNvPr>
          <p:cNvSpPr txBox="1"/>
          <p:nvPr/>
        </p:nvSpPr>
        <p:spPr>
          <a:xfrm>
            <a:off x="3291839" y="1197567"/>
            <a:ext cx="356616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noProof="0" dirty="0">
                <a:solidFill>
                  <a:schemeClr val="accent1"/>
                </a:solidFill>
              </a:rPr>
              <a:t>After the execution, a logfile can be consulted to check the execution of all the steps.</a:t>
            </a:r>
            <a:br>
              <a:rPr lang="en-US" i="1" noProof="0" dirty="0">
                <a:solidFill>
                  <a:schemeClr val="accent1"/>
                </a:solidFill>
              </a:rPr>
            </a:br>
            <a:br>
              <a:rPr lang="en-US" i="1" noProof="0" dirty="0">
                <a:solidFill>
                  <a:schemeClr val="accent1"/>
                </a:solidFill>
              </a:rPr>
            </a:br>
            <a:r>
              <a:rPr lang="en-US" i="1" noProof="0" dirty="0">
                <a:solidFill>
                  <a:schemeClr val="accent1"/>
                </a:solidFill>
              </a:rPr>
              <a:t>(*) </a:t>
            </a:r>
            <a:r>
              <a:rPr lang="en-US" i="1" u="sng" noProof="0" dirty="0">
                <a:solidFill>
                  <a:schemeClr val="accent1"/>
                </a:solidFill>
              </a:rPr>
              <a:t>Note:</a:t>
            </a:r>
            <a:r>
              <a:rPr lang="en-US" i="1" noProof="0" dirty="0">
                <a:solidFill>
                  <a:schemeClr val="accent1"/>
                </a:solidFill>
              </a:rPr>
              <a:t> For the Tester, a simplify version of the logfile is displayed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AEA02A-171C-EFEB-EABB-B5BD82983881}"/>
              </a:ext>
            </a:extLst>
          </p:cNvPr>
          <p:cNvSpPr txBox="1"/>
          <p:nvPr/>
        </p:nvSpPr>
        <p:spPr>
          <a:xfrm>
            <a:off x="108031" y="3697034"/>
            <a:ext cx="66269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BE" b="1" dirty="0">
                <a:solidFill>
                  <a:schemeClr val="accent1"/>
                </a:solidFill>
              </a:rPr>
              <a:t>DESIGNER / TESTER(*)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D2BEE63-7A0E-FE6B-A48C-3D84093F5405}"/>
              </a:ext>
            </a:extLst>
          </p:cNvPr>
          <p:cNvSpPr txBox="1"/>
          <p:nvPr/>
        </p:nvSpPr>
        <p:spPr>
          <a:xfrm>
            <a:off x="108031" y="4060702"/>
            <a:ext cx="22041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600" b="1" i="1">
                <a:solidFill>
                  <a:schemeClr val="accent1"/>
                </a:solidFill>
              </a:defRPr>
            </a:lvl1pPr>
          </a:lstStyle>
          <a:p>
            <a:r>
              <a:rPr lang="en-US" noProof="0" dirty="0"/>
              <a:t>Display the logfile: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EA87BDF-7A8B-CF6D-B611-F6D30AAD10A4}"/>
              </a:ext>
            </a:extLst>
          </p:cNvPr>
          <p:cNvSpPr txBox="1"/>
          <p:nvPr/>
        </p:nvSpPr>
        <p:spPr>
          <a:xfrm>
            <a:off x="108031" y="7924314"/>
            <a:ext cx="31838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i="1" noProof="0" dirty="0">
                <a:solidFill>
                  <a:schemeClr val="accent1"/>
                </a:solidFill>
              </a:rPr>
              <a:t>Display a print screen: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D552E6-42E5-668F-ABF1-CB58C17145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068" y="429792"/>
            <a:ext cx="2860751" cy="258532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3A3A9BE-3D66-5498-D67B-86A8475C60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068" y="4346965"/>
            <a:ext cx="6626901" cy="338019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B470A2C-AF6B-5B42-BA54-DEB1D930A0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067" y="8351871"/>
            <a:ext cx="6626901" cy="348325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0C50267-0BA8-DD9F-150E-8280C639C2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413" y="5097881"/>
            <a:ext cx="1924069" cy="142966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D1F4295-C1B3-6A8A-F6E2-6D728D4124A8}"/>
              </a:ext>
            </a:extLst>
          </p:cNvPr>
          <p:cNvCxnSpPr/>
          <p:nvPr/>
        </p:nvCxnSpPr>
        <p:spPr>
          <a:xfrm>
            <a:off x="2983819" y="4060702"/>
            <a:ext cx="0" cy="7398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2B3978C-3DDC-0C93-99F8-F5A4D25FA966}"/>
              </a:ext>
            </a:extLst>
          </p:cNvPr>
          <p:cNvCxnSpPr>
            <a:endCxn id="14" idx="0"/>
          </p:cNvCxnSpPr>
          <p:nvPr/>
        </p:nvCxnSpPr>
        <p:spPr>
          <a:xfrm>
            <a:off x="4082143" y="4060702"/>
            <a:ext cx="1458305" cy="10371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21573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1CFDD-5FF7-12C8-73CF-EBB21159A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4DFAE0C-794A-D0D5-490D-F6CF974225F3}"/>
              </a:ext>
            </a:extLst>
          </p:cNvPr>
          <p:cNvSpPr/>
          <p:nvPr/>
        </p:nvSpPr>
        <p:spPr>
          <a:xfrm>
            <a:off x="0" y="312821"/>
            <a:ext cx="6858000" cy="2960731"/>
          </a:xfrm>
          <a:prstGeom prst="rect">
            <a:avLst/>
          </a:prstGeom>
          <a:solidFill>
            <a:srgbClr val="D4ED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62D560-2EEA-3536-92B8-6A93C0F4C95C}"/>
              </a:ext>
            </a:extLst>
          </p:cNvPr>
          <p:cNvSpPr/>
          <p:nvPr/>
        </p:nvSpPr>
        <p:spPr>
          <a:xfrm>
            <a:off x="256032" y="0"/>
            <a:ext cx="2779776" cy="3128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185FC8-7E42-0F4C-942B-9A89AAA5B6E0}"/>
              </a:ext>
            </a:extLst>
          </p:cNvPr>
          <p:cNvSpPr txBox="1"/>
          <p:nvPr/>
        </p:nvSpPr>
        <p:spPr>
          <a:xfrm>
            <a:off x="3035808" y="593710"/>
            <a:ext cx="38221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noProof="0" dirty="0">
                <a:solidFill>
                  <a:schemeClr val="accent1"/>
                </a:solidFill>
              </a:rPr>
              <a:t>Automated Tests Tool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DED6854-106A-9D46-51C7-E9D98D1DB269}"/>
              </a:ext>
            </a:extLst>
          </p:cNvPr>
          <p:cNvSpPr txBox="1"/>
          <p:nvPr/>
        </p:nvSpPr>
        <p:spPr>
          <a:xfrm>
            <a:off x="3291839" y="1197567"/>
            <a:ext cx="356616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noProof="0" dirty="0">
                <a:solidFill>
                  <a:schemeClr val="accent1"/>
                </a:solidFill>
              </a:rPr>
              <a:t>Administrator is responsible for the management of the projects.</a:t>
            </a:r>
            <a:br>
              <a:rPr lang="en-US" i="1" noProof="0" dirty="0">
                <a:solidFill>
                  <a:schemeClr val="accent1"/>
                </a:solidFill>
              </a:rPr>
            </a:br>
            <a:r>
              <a:rPr lang="en-US" i="1" noProof="0" dirty="0">
                <a:solidFill>
                  <a:schemeClr val="accent1"/>
                </a:solidFill>
              </a:rPr>
              <a:t>He is responsible of the documents and the training of the Robot with AI. (after the training, the Robot can detect an element on the page)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18F75C-648A-30F2-34E0-74400C74B927}"/>
              </a:ext>
            </a:extLst>
          </p:cNvPr>
          <p:cNvSpPr txBox="1"/>
          <p:nvPr/>
        </p:nvSpPr>
        <p:spPr>
          <a:xfrm>
            <a:off x="108031" y="3697034"/>
            <a:ext cx="2204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b="1" dirty="0">
                <a:solidFill>
                  <a:schemeClr val="accent1"/>
                </a:solidFill>
              </a:rPr>
              <a:t>ADMINISTRATOR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B9D38EC-D796-6177-87AB-B35563443C8A}"/>
              </a:ext>
            </a:extLst>
          </p:cNvPr>
          <p:cNvSpPr txBox="1"/>
          <p:nvPr/>
        </p:nvSpPr>
        <p:spPr>
          <a:xfrm>
            <a:off x="108031" y="4060702"/>
            <a:ext cx="22041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600" b="1" i="1">
                <a:solidFill>
                  <a:schemeClr val="accent1"/>
                </a:solidFill>
              </a:defRPr>
            </a:lvl1pPr>
          </a:lstStyle>
          <a:p>
            <a:r>
              <a:rPr lang="en-US" noProof="0"/>
              <a:t>User interface: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3D5D743-515B-80DD-139F-8CFD05B69FA3}"/>
              </a:ext>
            </a:extLst>
          </p:cNvPr>
          <p:cNvSpPr txBox="1"/>
          <p:nvPr/>
        </p:nvSpPr>
        <p:spPr>
          <a:xfrm>
            <a:off x="108031" y="7924314"/>
            <a:ext cx="31838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i="1" noProof="0" dirty="0">
                <a:solidFill>
                  <a:schemeClr val="accent1"/>
                </a:solidFill>
              </a:rPr>
              <a:t>Train the Robot with AI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759A5CB-FCE0-DCC2-6435-7080BC4425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31" y="8327066"/>
            <a:ext cx="6658969" cy="3277604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663664F-9F23-F2D5-3421-558E07698B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068" y="429792"/>
            <a:ext cx="2860751" cy="258532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0805332-00D2-A954-2BC2-4C46E8B277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760" y="4498291"/>
            <a:ext cx="6599240" cy="3233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4971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50FAC0-D3B8-5A35-CE80-DDA973E29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09AAE2B-004D-6629-DB4C-041D3A45CACD}"/>
              </a:ext>
            </a:extLst>
          </p:cNvPr>
          <p:cNvSpPr/>
          <p:nvPr/>
        </p:nvSpPr>
        <p:spPr>
          <a:xfrm>
            <a:off x="0" y="312821"/>
            <a:ext cx="6858000" cy="2960731"/>
          </a:xfrm>
          <a:prstGeom prst="rect">
            <a:avLst/>
          </a:prstGeom>
          <a:solidFill>
            <a:srgbClr val="D4ED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E17F7E0-1F1D-E2B4-CFD0-DA812995BA54}"/>
              </a:ext>
            </a:extLst>
          </p:cNvPr>
          <p:cNvSpPr/>
          <p:nvPr/>
        </p:nvSpPr>
        <p:spPr>
          <a:xfrm>
            <a:off x="256032" y="0"/>
            <a:ext cx="2779776" cy="3128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B01912B-1A37-E953-B26A-1D1229C59F67}"/>
              </a:ext>
            </a:extLst>
          </p:cNvPr>
          <p:cNvSpPr txBox="1"/>
          <p:nvPr/>
        </p:nvSpPr>
        <p:spPr>
          <a:xfrm>
            <a:off x="3035808" y="593710"/>
            <a:ext cx="38221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noProof="0" dirty="0">
                <a:solidFill>
                  <a:schemeClr val="accent1"/>
                </a:solidFill>
              </a:rPr>
              <a:t>Automated Tests Tool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FC26538-E8D9-B52B-5978-4EF9661633D3}"/>
              </a:ext>
            </a:extLst>
          </p:cNvPr>
          <p:cNvSpPr txBox="1"/>
          <p:nvPr/>
        </p:nvSpPr>
        <p:spPr>
          <a:xfrm>
            <a:off x="3291839" y="1197567"/>
            <a:ext cx="35661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noProof="0" dirty="0">
                <a:solidFill>
                  <a:schemeClr val="accent1"/>
                </a:solidFill>
              </a:rPr>
              <a:t>Documentation is very important!</a:t>
            </a:r>
          </a:p>
          <a:p>
            <a:r>
              <a:rPr lang="en-US" i="1" dirty="0">
                <a:solidFill>
                  <a:schemeClr val="accent1"/>
                </a:solidFill>
              </a:rPr>
              <a:t>For each role, we have dedicated books to help the people</a:t>
            </a:r>
            <a:endParaRPr lang="en-US" i="1" noProof="0" dirty="0">
              <a:solidFill>
                <a:schemeClr val="accent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9B63AE-3777-19B7-9B7C-4066876794D5}"/>
              </a:ext>
            </a:extLst>
          </p:cNvPr>
          <p:cNvSpPr txBox="1"/>
          <p:nvPr/>
        </p:nvSpPr>
        <p:spPr>
          <a:xfrm>
            <a:off x="98405" y="3398650"/>
            <a:ext cx="2204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b="1" dirty="0">
                <a:solidFill>
                  <a:schemeClr val="accent1"/>
                </a:solidFill>
              </a:rPr>
              <a:t>TESTER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B2F24F-1768-9218-A0AE-14D97720DF64}"/>
              </a:ext>
            </a:extLst>
          </p:cNvPr>
          <p:cNvSpPr txBox="1"/>
          <p:nvPr/>
        </p:nvSpPr>
        <p:spPr>
          <a:xfrm>
            <a:off x="98405" y="6392399"/>
            <a:ext cx="2204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b="1" dirty="0">
                <a:solidFill>
                  <a:schemeClr val="accent1"/>
                </a:solidFill>
              </a:rPr>
              <a:t>DESIGNER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6A72389-F84E-7DB5-2701-A8B8266BF47C}"/>
              </a:ext>
            </a:extLst>
          </p:cNvPr>
          <p:cNvSpPr txBox="1"/>
          <p:nvPr/>
        </p:nvSpPr>
        <p:spPr>
          <a:xfrm>
            <a:off x="98404" y="9415440"/>
            <a:ext cx="2204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b="1" dirty="0">
                <a:solidFill>
                  <a:schemeClr val="accent1"/>
                </a:solidFill>
              </a:rPr>
              <a:t>ADMINISTRATOR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2E4ED6B6-208B-13E5-FDC5-327D7E350D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64" y="6773091"/>
            <a:ext cx="6668431" cy="2388829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B16D490F-CEA5-A18B-FF99-D5FEC904AA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404" y="9798456"/>
            <a:ext cx="6661191" cy="216236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11D0A8B-0B9D-CD79-9EE0-F1C3E46A38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404" y="3866222"/>
            <a:ext cx="6661191" cy="207902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41E6DFE-6420-21E3-9E43-802A2123EC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068" y="429792"/>
            <a:ext cx="2860751" cy="2585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55585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619ffa58-9d1c-42f8-b0e6-79cea428c945}" enabled="1" method="Privileged" siteId="{8b87af7d-8647-4dc7-8df4-5f69a2011bb5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638</Words>
  <Application>Microsoft Office PowerPoint</Application>
  <PresentationFormat>Widescreen</PresentationFormat>
  <Paragraphs>88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Google Sans Text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Philippe Goffin</dc:creator>
  <cp:lastModifiedBy>GOFFIN Philippe</cp:lastModifiedBy>
  <cp:revision>18</cp:revision>
  <dcterms:created xsi:type="dcterms:W3CDTF">2025-01-27T06:45:05Z</dcterms:created>
  <dcterms:modified xsi:type="dcterms:W3CDTF">2025-06-17T08:36:02Z</dcterms:modified>
</cp:coreProperties>
</file>